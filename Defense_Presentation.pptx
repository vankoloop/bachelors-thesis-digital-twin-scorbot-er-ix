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png"/><Relationship Id="rId4" Type="http://schemas.openxmlformats.org/officeDocument/2006/relationships/image" Target="../media/image-11-4.jpe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Логото на Технически университет – София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5556250" y="508000"/>
            <a:ext cx="1079500" cy="971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800" y="2003276"/>
            <a:ext cx="2844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ФАКУЛТЕТ „АВТОМАТИКА“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197007" y="2315666"/>
            <a:ext cx="379793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220"/>
              </a:lnSpc>
              <a:buNone/>
            </a:pPr>
            <a:r>
              <a:rPr lang="en-US" sz="2800" spc="100" kern="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ДИПЛОМНА РАБОТА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89352" y="2788096"/>
            <a:ext cx="48132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 придобиване на образователно-квалификационна степен „бакалавър“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795125" y="3064917"/>
            <a:ext cx="460165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специалност: „Автоматика, информационна и управляваща техника“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катедра: „Автоматизация на електрозадвижванията“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06914" y="4045843"/>
            <a:ext cx="77817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150" kern="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ТЕМА: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33500" y="5319613"/>
            <a:ext cx="9525000" cy="0"/>
          </a:xfrm>
          <a:prstGeom prst="line">
            <a:avLst/>
          </a:prstGeom>
          <a:noFill/>
          <a:ln w="12700">
            <a:solidFill>
              <a:srgbClr val="3638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90625" y="4419203"/>
            <a:ext cx="9810750" cy="817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Програмиране и симулация на робот с пет степени на свобода SCORBOT ER-9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12800" y="5849689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Научен ръководител: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2800" y="6101110"/>
            <a:ext cx="341848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гл. ас. д-р Николай Братованов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87330" y="5849689"/>
            <a:ext cx="6173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Студент: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44827" y="6101110"/>
            <a:ext cx="130234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Иван Найденов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940727" y="5849689"/>
            <a:ext cx="14384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Ръководител катедра: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00296" y="6101110"/>
            <a:ext cx="22789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проф. д-р Владимир Христов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023021"/>
            <a:ext cx="10566400" cy="0"/>
          </a:xfrm>
          <a:prstGeom prst="line">
            <a:avLst/>
          </a:prstGeom>
          <a:noFill/>
          <a:ln w="12700">
            <a:solidFill>
              <a:srgbClr val="363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 на работата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07430"/>
            <a:ext cx="954913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 свържа реалния робот с неговия 3D модел който го следва в реално време и да проверя точността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5975" y="2286546"/>
            <a:ext cx="5175250" cy="2147441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3150" y="2543721"/>
            <a:ext cx="480072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Офлайн симулация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3150" y="2876451"/>
            <a:ext cx="480072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Компютърът изчислява движението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6325" y="3255516"/>
            <a:ext cx="997545" cy="331440"/>
          </a:xfrm>
          <a:prstGeom prst="rect">
            <a:avLst/>
          </a:prstGeom>
          <a:solidFill>
            <a:srgbClr val="F3F4F7"/>
          </a:solidFill>
          <a:ln w="6350">
            <a:solidFill>
              <a:srgbClr val="D5D9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Програма</a:t>
            </a:r>
            <a:endParaRPr lang="en-US" sz="140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53245" y="3351361"/>
            <a:ext cx="279400" cy="139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12020" y="3255516"/>
            <a:ext cx="976511" cy="331440"/>
          </a:xfrm>
          <a:prstGeom prst="rect">
            <a:avLst/>
          </a:prstGeom>
          <a:solidFill>
            <a:srgbClr val="F3F4F7"/>
          </a:solidFill>
          <a:ln w="6350">
            <a:solidFill>
              <a:srgbClr val="D5D9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3D модел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73150" y="3691731"/>
            <a:ext cx="48007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Няма връзка с реалната машина.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07125" y="2292896"/>
            <a:ext cx="5162550" cy="2134741"/>
          </a:xfrm>
          <a:prstGeom prst="rect">
            <a:avLst/>
          </a:prstGeom>
          <a:solidFill>
            <a:srgbClr val="FFFFFF"/>
          </a:solidFill>
          <a:ln w="19050">
            <a:solidFill>
              <a:srgbClr val="3638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57950" y="2543721"/>
            <a:ext cx="480072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Цифров близнак (тази работа)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57950" y="2876451"/>
            <a:ext cx="480072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Роботът измерва движението си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57950" y="3252341"/>
            <a:ext cx="1251893" cy="325090"/>
          </a:xfrm>
          <a:prstGeom prst="rect">
            <a:avLst/>
          </a:prstGeom>
          <a:solidFill>
            <a:srgbClr val="63568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Реален робот</a:t>
            </a:r>
            <a:endParaRPr lang="en-US" sz="1400" dirty="0"/>
          </a:p>
        </p:txBody>
      </p:sp>
      <p:pic>
        <p:nvPicPr>
          <p:cNvPr id="16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86043" y="3345011"/>
            <a:ext cx="279400" cy="1397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141643" y="3252341"/>
            <a:ext cx="970161" cy="325090"/>
          </a:xfrm>
          <a:prstGeom prst="rect">
            <a:avLst/>
          </a:prstGeom>
          <a:solidFill>
            <a:srgbClr val="CDBEF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3D модел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457950" y="3679031"/>
            <a:ext cx="480072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Моделът повтаря това, което машината прави в момента. Като пряко предаване.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12800" y="4691162"/>
            <a:ext cx="10883392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i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Източникът на движението е реалността — моделът само я показва.</a:t>
            </a:r>
            <a:endParaRPr lang="en-US" sz="1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10617200" y="660400"/>
            <a:ext cx="762000" cy="6858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 – София · Факултет „Автоматика“ · SCORBOT ER-9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631900"/>
            <a:ext cx="10566400" cy="0"/>
          </a:xfrm>
          <a:prstGeom prst="line">
            <a:avLst/>
          </a:prstGeom>
          <a:noFill/>
          <a:ln w="12700">
            <a:solidFill>
              <a:srgbClr val="363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Обектът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07430"/>
            <a:ext cx="954913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Роботът SCORBOT ER-9</a:t>
            </a:r>
            <a:endParaRPr lang="en-US" sz="2800" dirty="0"/>
          </a:p>
        </p:txBody>
      </p:sp>
      <p:pic>
        <p:nvPicPr>
          <p:cNvPr id="5" name="Image 0" descr="Реалният робот SCORBOT ER-9 в лабораторията на ТУ – София">    </p:cNvPr>
          <p:cNvPicPr>
            <a:picLocks noChangeAspect="1"/>
          </p:cNvPicPr>
          <p:nvPr/>
        </p:nvPicPr>
        <p:blipFill>
          <a:blip r:embed="rId1"/>
          <a:srcRect l="0" r="0" t="582" b="582"/>
          <a:stretch/>
        </p:blipFill>
        <p:spPr>
          <a:xfrm>
            <a:off x="812800" y="1892250"/>
            <a:ext cx="5588000" cy="3619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07200" y="1892250"/>
            <a:ext cx="4709160" cy="1975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ротационни оси</a:t>
            </a:r>
            <a:endParaRPr lang="en-US" sz="1600" dirty="0"/>
          </a:p>
          <a:p>
            <a:pPr algn="l" marL="243840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Постояннотокови серводвигатели</a:t>
            </a:r>
            <a:endParaRPr lang="en-US" sz="1600" dirty="0"/>
          </a:p>
          <a:p>
            <a:pPr algn="l" marL="243840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Вълнови редуктори (Harmonic Drive)</a:t>
            </a:r>
            <a:endParaRPr lang="en-US" sz="1600" dirty="0"/>
          </a:p>
          <a:p>
            <a:pPr algn="l" marL="243840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Оптични енкодери на всяка ос</a:t>
            </a:r>
            <a:endParaRPr lang="en-US" sz="1600" dirty="0"/>
          </a:p>
          <a:p>
            <a:pPr algn="l" marL="243840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Контролер ACL Controller-B</a:t>
            </a:r>
            <a:endParaRPr lang="en-US" sz="1600" dirty="0"/>
          </a:p>
          <a:p>
            <a:pPr algn="l" marL="243840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Пневматичен захват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07200" y="4325640"/>
            <a:ext cx="4572000" cy="1186111"/>
          </a:xfrm>
          <a:prstGeom prst="rect">
            <a:avLst/>
          </a:prstGeom>
          <a:solidFill>
            <a:srgbClr val="F3F4F7"/>
          </a:solidFill>
          <a:ln/>
        </p:spPr>
      </p:sp>
      <p:sp>
        <p:nvSpPr>
          <p:cNvPr id="8" name="Shape 5"/>
          <p:cNvSpPr/>
          <p:nvPr/>
        </p:nvSpPr>
        <p:spPr>
          <a:xfrm>
            <a:off x="6826250" y="4325640"/>
            <a:ext cx="0" cy="1186111"/>
          </a:xfrm>
          <a:prstGeom prst="line">
            <a:avLst/>
          </a:prstGeom>
          <a:noFill/>
          <a:ln w="38100">
            <a:solidFill>
              <a:srgbClr val="6356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8500" y="4503440"/>
            <a:ext cx="425132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6356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Особеност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048500" y="4785370"/>
            <a:ext cx="4251325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Без yaw подходът към детайла остава фиксиран във вертикалната равнина.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5" b="-45"/>
          <a:stretch/>
        </p:blipFill>
        <p:spPr>
          <a:xfrm>
            <a:off x="10617200" y="660400"/>
            <a:ext cx="7620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 – София · Факултет „Автоматика“ · SCORBOT ER-9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631900"/>
            <a:ext cx="10566400" cy="0"/>
          </a:xfrm>
          <a:prstGeom prst="line">
            <a:avLst/>
          </a:prstGeom>
          <a:noFill/>
          <a:ln w="12700">
            <a:solidFill>
              <a:srgbClr val="363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Решението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07430"/>
            <a:ext cx="954913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Верига от 5 звена: от енкодера до модела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9150" y="1898600"/>
            <a:ext cx="1816100" cy="1676350"/>
          </a:xfrm>
          <a:prstGeom prst="rect">
            <a:avLst/>
          </a:prstGeom>
          <a:solidFill>
            <a:srgbClr val="FFFFFF"/>
          </a:solidFill>
          <a:ln w="12700">
            <a:solidFill>
              <a:srgbClr val="6356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3300" y="2082750"/>
            <a:ext cx="14986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356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3300" y="2377380"/>
            <a:ext cx="149860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Робот и контролер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3300" y="2928541"/>
            <a:ext cx="14986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Енкодерите отчитат ъгъла на всяка ос</a:t>
            </a:r>
            <a:endParaRPr lang="en-US" sz="130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92400" y="2660551"/>
            <a:ext cx="254000" cy="152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003550" y="1898600"/>
            <a:ext cx="1816100" cy="1676350"/>
          </a:xfrm>
          <a:prstGeom prst="rect">
            <a:avLst/>
          </a:prstGeom>
          <a:solidFill>
            <a:srgbClr val="FFFFFF"/>
          </a:solidFill>
          <a:ln w="12700">
            <a:solidFill>
              <a:srgbClr val="6356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87700" y="2082750"/>
            <a:ext cx="14986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356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187700" y="2377380"/>
            <a:ext cx="14986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Програма SIM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187700" y="2684711"/>
            <a:ext cx="149860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 ACL, в контролера. Изпраща числата</a:t>
            </a:r>
            <a:endParaRPr lang="en-US" sz="1300" dirty="0"/>
          </a:p>
        </p:txBody>
      </p:sp>
      <p:pic>
        <p:nvPicPr>
          <p:cNvPr id="1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76800" y="2660551"/>
            <a:ext cx="254000" cy="1524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187950" y="1898600"/>
            <a:ext cx="1816100" cy="1676350"/>
          </a:xfrm>
          <a:prstGeom prst="rect">
            <a:avLst/>
          </a:prstGeom>
          <a:solidFill>
            <a:srgbClr val="FFFFFF"/>
          </a:solidFill>
          <a:ln w="12700">
            <a:solidFill>
              <a:srgbClr val="3E4A5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72100" y="2082750"/>
            <a:ext cx="14986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372100" y="2377380"/>
            <a:ext cx="14986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Канал RS232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372100" y="2684711"/>
            <a:ext cx="149860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 0 → USB адаптер → компютър</a:t>
            </a:r>
            <a:endParaRPr lang="en-US" sz="1300" dirty="0"/>
          </a:p>
        </p:txBody>
      </p:sp>
      <p:pic>
        <p:nvPicPr>
          <p:cNvPr id="19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61200" y="2660551"/>
            <a:ext cx="254000" cy="1524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372350" y="1898600"/>
            <a:ext cx="1816100" cy="1676350"/>
          </a:xfrm>
          <a:prstGeom prst="rect">
            <a:avLst/>
          </a:prstGeom>
          <a:solidFill>
            <a:srgbClr val="E6DEFA"/>
          </a:solidFill>
          <a:ln w="12700">
            <a:solidFill>
              <a:srgbClr val="CDBEF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556500" y="2082750"/>
            <a:ext cx="14986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556500" y="2377380"/>
            <a:ext cx="14986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listen.py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556500" y="2684711"/>
            <a:ext cx="149860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Python: импулси → ъгли, запис във файл</a:t>
            </a:r>
            <a:endParaRPr lang="en-US" sz="1300" dirty="0"/>
          </a:p>
        </p:txBody>
      </p:sp>
      <p:pic>
        <p:nvPicPr>
          <p:cNvPr id="24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45600" y="2660551"/>
            <a:ext cx="254000" cy="1524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556750" y="1898600"/>
            <a:ext cx="1816100" cy="1676350"/>
          </a:xfrm>
          <a:prstGeom prst="rect">
            <a:avLst/>
          </a:prstGeom>
          <a:solidFill>
            <a:srgbClr val="E6DEFA"/>
          </a:solidFill>
          <a:ln w="12700">
            <a:solidFill>
              <a:srgbClr val="CDBEF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740900" y="2082750"/>
            <a:ext cx="14986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740900" y="2377380"/>
            <a:ext cx="14986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SolidWorks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740900" y="2684711"/>
            <a:ext cx="149860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GMK_Simulator завърта звената на модела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812800" y="3695601"/>
            <a:ext cx="4013200" cy="0"/>
          </a:xfrm>
          <a:prstGeom prst="line">
            <a:avLst/>
          </a:prstGeom>
          <a:noFill/>
          <a:ln w="25400">
            <a:solidFill>
              <a:srgbClr val="63568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12800" y="3784501"/>
            <a:ext cx="413359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6356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 контролера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4826000" y="3695601"/>
            <a:ext cx="4013200" cy="0"/>
          </a:xfrm>
          <a:prstGeom prst="line">
            <a:avLst/>
          </a:prstGeom>
          <a:noFill/>
          <a:ln w="25400">
            <a:solidFill>
              <a:srgbClr val="CDBEF6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826000" y="3784501"/>
            <a:ext cx="413359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 компютъра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815975" y="4272806"/>
            <a:ext cx="10560050" cy="979140"/>
          </a:xfrm>
          <a:prstGeom prst="rect">
            <a:avLst/>
          </a:prstGeom>
          <a:solidFill>
            <a:srgbClr val="F3F4F7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1073150" y="4479181"/>
            <a:ext cx="478110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356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 изпраща импулси на енкодерите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1073150" y="4761111"/>
            <a:ext cx="478110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-13544 -58540 28399 99466 -430 1</a:t>
            </a:r>
            <a:endParaRPr lang="en-US" sz="1600" dirty="0"/>
          </a:p>
        </p:txBody>
      </p:sp>
      <p:pic>
        <p:nvPicPr>
          <p:cNvPr id="36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918200" y="4673451"/>
            <a:ext cx="355600" cy="1778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477000" y="4479181"/>
            <a:ext cx="478110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listen.py записва стотни от градуса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6477000" y="4761111"/>
            <a:ext cx="478110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Q1=563 Q2=-87 Q3=41 Q4=0 Q5=0 G=1</a:t>
            </a:r>
            <a:endParaRPr lang="en-US" sz="16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5" b="-45"/>
          <a:stretch/>
        </p:blipFill>
        <p:spPr>
          <a:xfrm>
            <a:off x="10617200" y="660400"/>
            <a:ext cx="762000" cy="6858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 – София · Факултет „Автоматика“ · SCORBOT ER-9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631900"/>
            <a:ext cx="10566400" cy="0"/>
          </a:xfrm>
          <a:prstGeom prst="line">
            <a:avLst/>
          </a:prstGeom>
          <a:noFill/>
          <a:ln w="12700">
            <a:solidFill>
              <a:srgbClr val="363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Главната програма · Python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07430"/>
            <a:ext cx="954913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listen.py: от импулси до движещ се модел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9150" y="1797000"/>
            <a:ext cx="2400300" cy="1663650"/>
          </a:xfrm>
          <a:prstGeom prst="rect">
            <a:avLst/>
          </a:prstGeom>
          <a:solidFill>
            <a:srgbClr val="E6DEFA"/>
          </a:solidFill>
          <a:ln w="12700">
            <a:solidFill>
              <a:srgbClr val="CDB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3300" y="1981150"/>
            <a:ext cx="20929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3300" y="2275780"/>
            <a:ext cx="20929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Приемане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3300" y="2583111"/>
            <a:ext cx="209296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Слуша COM 0 с pySerial, 9600 bit/s. Не управлява робота.</a:t>
            </a:r>
            <a:endParaRPr lang="en-US" sz="130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63900" y="2558951"/>
            <a:ext cx="228600" cy="1397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36950" y="1797000"/>
            <a:ext cx="2400300" cy="1663650"/>
          </a:xfrm>
          <a:prstGeom prst="rect">
            <a:avLst/>
          </a:prstGeom>
          <a:solidFill>
            <a:srgbClr val="E6DEFA"/>
          </a:solidFill>
          <a:ln w="12700">
            <a:solidFill>
              <a:srgbClr val="CDBE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21100" y="1981150"/>
            <a:ext cx="20929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21100" y="2275780"/>
            <a:ext cx="20929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Цели редове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721100" y="2583111"/>
            <a:ext cx="209296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Байтовете се трупат в буфер; непълният ред чака следващото четене.</a:t>
            </a:r>
            <a:endParaRPr lang="en-US" sz="1300" dirty="0"/>
          </a:p>
        </p:txBody>
      </p:sp>
      <p:pic>
        <p:nvPicPr>
          <p:cNvPr id="1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1700" y="2558951"/>
            <a:ext cx="228600" cy="1397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54750" y="1797000"/>
            <a:ext cx="2400300" cy="1663650"/>
          </a:xfrm>
          <a:prstGeom prst="rect">
            <a:avLst/>
          </a:prstGeom>
          <a:solidFill>
            <a:srgbClr val="E6DEFA"/>
          </a:solidFill>
          <a:ln w="12700">
            <a:solidFill>
              <a:srgbClr val="CDBEF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38900" y="1981150"/>
            <a:ext cx="20929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38900" y="2275780"/>
            <a:ext cx="20929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Преобразуване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438900" y="2583111"/>
            <a:ext cx="209296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Импулси → стотни от градуса: q = ENC · 100 / k</a:t>
            </a:r>
            <a:endParaRPr lang="en-US" sz="1300" dirty="0"/>
          </a:p>
        </p:txBody>
      </p:sp>
      <p:pic>
        <p:nvPicPr>
          <p:cNvPr id="19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99500" y="2558951"/>
            <a:ext cx="228600" cy="1397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966200" y="1790650"/>
            <a:ext cx="2413000" cy="1676350"/>
          </a:xfrm>
          <a:prstGeom prst="rect">
            <a:avLst/>
          </a:prstGeom>
          <a:solidFill>
            <a:srgbClr val="36385F"/>
          </a:solidFill>
          <a:ln/>
        </p:spPr>
      </p:sp>
      <p:sp>
        <p:nvSpPr>
          <p:cNvPr id="21" name="Text 16"/>
          <p:cNvSpPr/>
          <p:nvPr/>
        </p:nvSpPr>
        <p:spPr>
          <a:xfrm>
            <a:off x="9156700" y="1981150"/>
            <a:ext cx="20929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5D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156700" y="2275780"/>
            <a:ext cx="20929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Записване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156700" y="2583111"/>
            <a:ext cx="209296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4E7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positions.txt, който SolidWorks чете на ~10 ms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12800" y="361940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Най-трудният въпрос: как да пиша файл, който друга програма чете непрекъснато?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815975" y="4059436"/>
            <a:ext cx="3414167" cy="1400770"/>
          </a:xfrm>
          <a:prstGeom prst="rect">
            <a:avLst/>
          </a:prstGeom>
          <a:solidFill>
            <a:srgbClr val="F3F4F7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022350" y="4240411"/>
            <a:ext cx="30914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Опит 1 · отхвърлен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022350" y="4522341"/>
            <a:ext cx="309145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Презапис („w“)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1022350" y="4816971"/>
            <a:ext cx="3091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Файлът за миг е празен — SolidWorks чете празен ред.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4388892" y="4059436"/>
            <a:ext cx="3414216" cy="1400770"/>
          </a:xfrm>
          <a:prstGeom prst="rect">
            <a:avLst/>
          </a:prstGeom>
          <a:solidFill>
            <a:srgbClr val="F3F4F7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595267" y="4240411"/>
            <a:ext cx="30915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Опит 2 · отхвърлен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4595267" y="4522341"/>
            <a:ext cx="30915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Временен файл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4595267" y="4816971"/>
            <a:ext cx="30915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не дава да се подмени отворен файл.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7968208" y="4065786"/>
            <a:ext cx="3401467" cy="1388070"/>
          </a:xfrm>
          <a:prstGeom prst="rect">
            <a:avLst/>
          </a:prstGeom>
          <a:solidFill>
            <a:srgbClr val="FFFFFF"/>
          </a:solidFill>
          <a:ln w="19050">
            <a:solidFill>
              <a:srgbClr val="36385F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168233" y="4240411"/>
            <a:ext cx="6546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8168233" y="4522341"/>
            <a:ext cx="309145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Запис „на място“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8168233" y="4816971"/>
            <a:ext cx="3091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Файлът никога не е празен и се пише само при промяна.</a:t>
            </a:r>
            <a:endParaRPr lang="en-US" sz="13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5" b="-45"/>
          <a:stretch/>
        </p:blipFill>
        <p:spPr>
          <a:xfrm>
            <a:off x="10617200" y="660400"/>
            <a:ext cx="762000" cy="6858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 – София · Факултет „Автоматика“ · SCORBOT ER-9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631900"/>
            <a:ext cx="10566400" cy="0"/>
          </a:xfrm>
          <a:prstGeom prst="line">
            <a:avLst/>
          </a:prstGeom>
          <a:noFill/>
          <a:ln w="12700">
            <a:solidFill>
              <a:srgbClr val="363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Как проверих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07430"/>
            <a:ext cx="954913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Три източника, четири експеримента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5975" y="1895425"/>
            <a:ext cx="3414167" cy="115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2350" y="2101800"/>
            <a:ext cx="406400" cy="50800"/>
          </a:xfrm>
          <a:prstGeom prst="rect">
            <a:avLst/>
          </a:prstGeom>
          <a:solidFill>
            <a:srgbClr val="63568C"/>
          </a:solidFill>
          <a:ln/>
        </p:spPr>
      </p:sp>
      <p:sp>
        <p:nvSpPr>
          <p:cNvPr id="7" name="Text 5"/>
          <p:cNvSpPr/>
          <p:nvPr/>
        </p:nvSpPr>
        <p:spPr>
          <a:xfrm>
            <a:off x="1022350" y="2228800"/>
            <a:ext cx="3091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Реалният робот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22350" y="2609800"/>
            <a:ext cx="30914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снимки и измервания в лабораторията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8892" y="1895425"/>
            <a:ext cx="3414216" cy="115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5267" y="2101800"/>
            <a:ext cx="406400" cy="50800"/>
          </a:xfrm>
          <a:prstGeom prst="rect">
            <a:avLst/>
          </a:prstGeom>
          <a:solidFill>
            <a:srgbClr val="3E4A5C"/>
          </a:solidFill>
          <a:ln/>
        </p:spPr>
      </p:sp>
      <p:sp>
        <p:nvSpPr>
          <p:cNvPr id="11" name="Text 9"/>
          <p:cNvSpPr/>
          <p:nvPr/>
        </p:nvSpPr>
        <p:spPr>
          <a:xfrm>
            <a:off x="4595267" y="2228800"/>
            <a:ext cx="30915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Контролерът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95267" y="2609800"/>
            <a:ext cx="30915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координатите, които самият той отчита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61858" y="1895425"/>
            <a:ext cx="3414167" cy="115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68233" y="2101800"/>
            <a:ext cx="406400" cy="50800"/>
          </a:xfrm>
          <a:prstGeom prst="rect">
            <a:avLst/>
          </a:prstGeom>
          <a:solidFill>
            <a:srgbClr val="CDBEF6"/>
          </a:solidFill>
          <a:ln/>
        </p:spPr>
      </p:sp>
      <p:sp>
        <p:nvSpPr>
          <p:cNvPr id="15" name="Text 13"/>
          <p:cNvSpPr/>
          <p:nvPr/>
        </p:nvSpPr>
        <p:spPr>
          <a:xfrm>
            <a:off x="8168233" y="2228800"/>
            <a:ext cx="3091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3D моделът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68233" y="2609800"/>
            <a:ext cx="30914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измерване в SolidWorks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330448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Сравнявам ги по двойки — така всяка разлика получава конкретен „виновник“.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" y="4521150"/>
            <a:ext cx="2527300" cy="845790"/>
          </a:xfrm>
          <a:prstGeom prst="rect">
            <a:avLst/>
          </a:prstGeom>
          <a:solidFill>
            <a:srgbClr val="36385F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4673550"/>
            <a:ext cx="223685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D5D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Експ. 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0600" y="4930080"/>
            <a:ext cx="223685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Една става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92500" y="4350941"/>
            <a:ext cx="2527300" cy="1016000"/>
          </a:xfrm>
          <a:prstGeom prst="rect">
            <a:avLst/>
          </a:prstGeom>
          <a:solidFill>
            <a:srgbClr val="36385F"/>
          </a:solidFill>
          <a:ln/>
        </p:spPr>
      </p:sp>
      <p:sp>
        <p:nvSpPr>
          <p:cNvPr id="22" name="Text 20"/>
          <p:cNvSpPr/>
          <p:nvPr/>
        </p:nvSpPr>
        <p:spPr>
          <a:xfrm>
            <a:off x="3670300" y="4673550"/>
            <a:ext cx="223685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D5D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Експ. 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70300" y="4930080"/>
            <a:ext cx="223685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Една точка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4096941"/>
            <a:ext cx="2527300" cy="1270000"/>
          </a:xfrm>
          <a:prstGeom prst="rect">
            <a:avLst/>
          </a:prstGeom>
          <a:solidFill>
            <a:srgbClr val="36385F"/>
          </a:solidFill>
          <a:ln/>
        </p:spPr>
      </p:sp>
      <p:sp>
        <p:nvSpPr>
          <p:cNvPr id="25" name="Text 23"/>
          <p:cNvSpPr/>
          <p:nvPr/>
        </p:nvSpPr>
        <p:spPr>
          <a:xfrm>
            <a:off x="6350000" y="4673550"/>
            <a:ext cx="223685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D5D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Експ. 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0000" y="4930080"/>
            <a:ext cx="223685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Една права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851900" y="3842941"/>
            <a:ext cx="2527300" cy="1524000"/>
          </a:xfrm>
          <a:prstGeom prst="rect">
            <a:avLst/>
          </a:prstGeom>
          <a:solidFill>
            <a:srgbClr val="36385F"/>
          </a:solidFill>
          <a:ln/>
        </p:spPr>
      </p:sp>
      <p:sp>
        <p:nvSpPr>
          <p:cNvPr id="28" name="Text 26"/>
          <p:cNvSpPr/>
          <p:nvPr/>
        </p:nvSpPr>
        <p:spPr>
          <a:xfrm>
            <a:off x="9029700" y="4673550"/>
            <a:ext cx="223685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D5D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Експ. 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29700" y="4930080"/>
            <a:ext cx="223685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Цяла програма</a:t>
            </a:r>
            <a:endParaRPr lang="en-US" sz="16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10617200" y="660400"/>
            <a:ext cx="762000" cy="6858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 – София · Факултет „Автоматика“ · SCORBOT ER-9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631900"/>
            <a:ext cx="10566400" cy="0"/>
          </a:xfrm>
          <a:prstGeom prst="line">
            <a:avLst/>
          </a:prstGeom>
          <a:noFill/>
          <a:ln w="12700">
            <a:solidFill>
              <a:srgbClr val="363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Експеримент 1 - Проверка на ставното пространство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07430"/>
            <a:ext cx="954913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Завъртане на ос 2 на 60°</a:t>
            </a:r>
            <a:endParaRPr lang="en-US" sz="2800" dirty="0"/>
          </a:p>
        </p:txBody>
      </p:sp>
      <p:pic>
        <p:nvPicPr>
          <p:cNvPr id="5" name="Image 0" descr="Реалният робот с ос 2, завъртяна на 60°">    </p:cNvPr>
          <p:cNvPicPr>
            <a:picLocks noChangeAspect="1"/>
          </p:cNvPicPr>
          <p:nvPr/>
        </p:nvPicPr>
        <p:blipFill>
          <a:blip r:embed="rId1"/>
          <a:srcRect l="2192" r="2192" t="0" b="0"/>
          <a:stretch/>
        </p:blipFill>
        <p:spPr>
          <a:xfrm>
            <a:off x="812800" y="1892250"/>
            <a:ext cx="2794000" cy="330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295850"/>
            <a:ext cx="102527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Реален робот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810000" y="1892250"/>
            <a:ext cx="3746500" cy="3302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3D моделът в SolidWorks, измерен ъгъл 60°">    </p:cNvPr>
          <p:cNvPicPr>
            <a:picLocks noChangeAspect="1"/>
          </p:cNvPicPr>
          <p:nvPr/>
        </p:nvPicPr>
        <p:blipFill>
          <a:blip r:embed="rId2"/>
          <a:srcRect l="-59" r="-59" t="0" b="0"/>
          <a:stretch/>
        </p:blipFill>
        <p:spPr>
          <a:xfrm>
            <a:off x="3816350" y="1898600"/>
            <a:ext cx="3733800" cy="32893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813175" y="1895425"/>
            <a:ext cx="3740150" cy="3295650"/>
          </a:xfrm>
          <a:prstGeom prst="rect">
            <a:avLst/>
          </a:prstGeom>
          <a:noFill/>
          <a:ln w="6350">
            <a:solidFill>
              <a:srgbClr val="D5D9E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810000" y="5295850"/>
            <a:ext cx="21600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3D модел · измерен ъгъл 60°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861300" y="2537470"/>
            <a:ext cx="362343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Контролер ↔ модел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861300" y="2870200"/>
            <a:ext cx="3623437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0,00°</a:t>
            </a:r>
            <a:endParaRPr lang="en-US" sz="4800" dirty="0"/>
          </a:p>
        </p:txBody>
      </p:sp>
      <p:sp>
        <p:nvSpPr>
          <p:cNvPr id="13" name="Text 9"/>
          <p:cNvSpPr/>
          <p:nvPr/>
        </p:nvSpPr>
        <p:spPr>
          <a:xfrm>
            <a:off x="7861300" y="3642320"/>
            <a:ext cx="362343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Коефициентите за преобразуване в градуси са верни, без отклонения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861300" y="4312841"/>
            <a:ext cx="362343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 петте оси се раздвижват под 60° ъгъл и проверяват по посока.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10617200" y="660400"/>
            <a:ext cx="762000" cy="685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 – София · Факултет „Автоматика“ · SCORBOT ER-9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631900"/>
            <a:ext cx="10566400" cy="0"/>
          </a:xfrm>
          <a:prstGeom prst="line">
            <a:avLst/>
          </a:prstGeom>
          <a:noFill/>
          <a:ln w="12700">
            <a:solidFill>
              <a:srgbClr val="363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Експеримент 2 · Проверка на позиционна точност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07430"/>
            <a:ext cx="954913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Къде точно е върхът на инструмента?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00" y="1892250"/>
            <a:ext cx="3270250" cy="2921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Реалният робот в работна точка P1, отгоре координатите от контролера">    </p:cNvPr>
          <p:cNvPicPr>
            <a:picLocks noChangeAspect="1"/>
          </p:cNvPicPr>
          <p:nvPr/>
        </p:nvPicPr>
        <p:blipFill>
          <a:blip r:embed="rId1"/>
          <a:srcRect l="0" r="0" t="-21" b="-21"/>
          <a:stretch/>
        </p:blipFill>
        <p:spPr>
          <a:xfrm>
            <a:off x="825500" y="1904950"/>
            <a:ext cx="3244850" cy="2895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9150" y="1898600"/>
            <a:ext cx="3257550" cy="2908300"/>
          </a:xfrm>
          <a:prstGeom prst="rect">
            <a:avLst/>
          </a:prstGeom>
          <a:noFill/>
          <a:ln w="12700">
            <a:solidFill>
              <a:srgbClr val="6356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35450" y="1892250"/>
            <a:ext cx="3409950" cy="2921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Моделът в същата точка P1 с измерените координати на върха">    </p:cNvPr>
          <p:cNvPicPr>
            <a:picLocks noChangeAspect="1"/>
          </p:cNvPicPr>
          <p:nvPr/>
        </p:nvPicPr>
        <p:blipFill>
          <a:blip r:embed="rId2"/>
          <a:srcRect l="-82" r="-82" t="0" b="0"/>
          <a:stretch/>
        </p:blipFill>
        <p:spPr>
          <a:xfrm>
            <a:off x="4248150" y="1904950"/>
            <a:ext cx="3384550" cy="2895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41800" y="1898600"/>
            <a:ext cx="3397250" cy="2908300"/>
          </a:xfrm>
          <a:prstGeom prst="rect">
            <a:avLst/>
          </a:prstGeom>
          <a:noFill/>
          <a:ln w="12700">
            <a:solidFill>
              <a:srgbClr val="CDBEF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99400" y="1892250"/>
            <a:ext cx="358419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1,15 mm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899400" y="2240211"/>
            <a:ext cx="35841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контролер ↔ модел 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899400" y="2572941"/>
            <a:ext cx="358419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6356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7,36 mm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899400" y="2920901"/>
            <a:ext cx="35841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модел ↔ точката (почти изцяло по X)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899400" y="3253631"/>
            <a:ext cx="3479800" cy="1428750"/>
          </a:xfrm>
          <a:prstGeom prst="rect">
            <a:avLst/>
          </a:prstGeom>
          <a:solidFill>
            <a:srgbClr val="C8C8C8"/>
          </a:solidFill>
          <a:ln/>
        </p:spPr>
      </p:sp>
      <p:pic>
        <p:nvPicPr>
          <p:cNvPr id="16" name="Image 2" descr="Измерване в модела: разстояние от върха Pen-TIP до точката P1 – 7,3548 mm, от които dX 7,2947 mm, dY 0,9367 mm, dZ 0,0592 mm">    </p:cNvPr>
          <p:cNvPicPr>
            <a:picLocks noChangeAspect="1"/>
          </p:cNvPicPr>
          <p:nvPr/>
        </p:nvPicPr>
        <p:blipFill>
          <a:blip r:embed="rId3"/>
          <a:srcRect l="-257" r="-257" t="0" b="0"/>
          <a:stretch/>
        </p:blipFill>
        <p:spPr>
          <a:xfrm>
            <a:off x="7905750" y="3259981"/>
            <a:ext cx="3467100" cy="141605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902575" y="3256806"/>
            <a:ext cx="3473450" cy="1422400"/>
          </a:xfrm>
          <a:prstGeom prst="rect">
            <a:avLst/>
          </a:prstGeom>
          <a:noFill/>
          <a:ln w="6350">
            <a:solidFill>
              <a:srgbClr val="D5D9E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5" b="-45"/>
          <a:stretch/>
        </p:blipFill>
        <p:spPr>
          <a:xfrm>
            <a:off x="10617200" y="660400"/>
            <a:ext cx="762000" cy="685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 – София · Факултет „Автоматика“ · SCORBOT ER-9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10617200" y="660400"/>
            <a:ext cx="762000" cy="685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2800" y="1619250"/>
            <a:ext cx="10566400" cy="0"/>
          </a:xfrm>
          <a:prstGeom prst="line">
            <a:avLst/>
          </a:prstGeom>
          <a:noFill/>
          <a:ln w="12700">
            <a:solidFill>
              <a:srgbClr val="36385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12800" y="812800"/>
            <a:ext cx="10883392" cy="251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Експеримент 3 · Проверка на траекторната точност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102717"/>
            <a:ext cx="9549130" cy="408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22"/>
              </a:lnSpc>
              <a:buNone/>
            </a:pPr>
            <a:r>
              <a:rPr lang="en-US" sz="2748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Движение по права линия по X, Y и Z</a:t>
            </a:r>
            <a:endParaRPr lang="en-US" sz="2748" dirty="0"/>
          </a:p>
        </p:txBody>
      </p:sp>
      <p:pic>
        <p:nvPicPr>
          <p:cNvPr id="6" name="Image 1" descr="Фиг. 4.25: дължина на движението по X, измерена в модела – 117,5785 mm">    </p:cNvPr>
          <p:cNvPicPr>
            <a:picLocks noChangeAspect="1"/>
          </p:cNvPicPr>
          <p:nvPr/>
        </p:nvPicPr>
        <p:blipFill>
          <a:blip r:embed="rId2"/>
          <a:srcRect l="386" r="386" t="0" b="0"/>
          <a:stretch/>
        </p:blipFill>
        <p:spPr>
          <a:xfrm>
            <a:off x="819150" y="1828800"/>
            <a:ext cx="3848100" cy="28575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15975" y="1825625"/>
            <a:ext cx="3854450" cy="2863850"/>
          </a:xfrm>
          <a:prstGeom prst="rect">
            <a:avLst/>
          </a:prstGeom>
          <a:noFill/>
          <a:ln w="6350">
            <a:solidFill>
              <a:srgbClr val="D5D9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927600" y="1822450"/>
            <a:ext cx="664514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</a:t>
            </a: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Дължина по X в модела: </a:t>
            </a:r>
            <a:r>
              <a:rPr lang="en-US" sz="1300" b="1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117,58 mm</a:t>
            </a: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(в лабораторията: 115 mm)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927600" y="2155180"/>
            <a:ext cx="6451600" cy="802580"/>
          </a:xfrm>
          <a:prstGeom prst="rect">
            <a:avLst/>
          </a:prstGeom>
          <a:solidFill>
            <a:srgbClr val="E6DEFA"/>
          </a:solidFill>
          <a:ln/>
        </p:spPr>
        <p:txBody>
          <a:bodyPr wrap="square" lIns="215900" tIns="127000" rIns="0" bIns="10160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 всички оси дължината се различава с 1,2–2,6 mm, а отклонението от правата е </a:t>
            </a: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под 1 mm</a:t>
            </a:r>
            <a:r>
              <a:rPr lang="en-US" sz="16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946650" y="2155180"/>
            <a:ext cx="0" cy="802580"/>
          </a:xfrm>
          <a:prstGeom prst="line">
            <a:avLst/>
          </a:prstGeom>
          <a:noFill/>
          <a:ln w="38100">
            <a:solidFill>
              <a:srgbClr val="63568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927600" y="3059361"/>
            <a:ext cx="664514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Резултати по трите оси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40300" y="3353991"/>
          <a:ext cx="6438900" cy="1668413"/>
        </p:xfrm>
        <a:graphic>
          <a:graphicData uri="http://schemas.openxmlformats.org/drawingml/2006/table">
            <a:tbl>
              <a:tblPr/>
              <a:tblGrid>
                <a:gridCol w="901446"/>
                <a:gridCol w="1802892"/>
                <a:gridCol w="1931670"/>
                <a:gridCol w="1802892"/>
              </a:tblGrid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6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Ос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6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 модела, mm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8B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6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 лабораторията, mm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8B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6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Откл. от правата, mm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8B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FA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6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6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117,58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6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115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6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0,57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6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6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106,23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6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105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6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0,90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6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6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118,83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6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117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6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0,75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735013" y="5022354"/>
            <a:ext cx="11204476" cy="110762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2" descr="Фиг. 4.27: реалната следа по X спрямо идеалната права – най-голямо отклонение 0,5669 mm">    </p:cNvPr>
          <p:cNvPicPr>
            <a:picLocks noChangeAspect="1"/>
          </p:cNvPicPr>
          <p:nvPr/>
        </p:nvPicPr>
        <p:blipFill>
          <a:blip r:embed="rId3"/>
          <a:srcRect l="-6890" r="-6890" t="0" b="0"/>
          <a:stretch/>
        </p:blipFill>
        <p:spPr>
          <a:xfrm>
            <a:off x="741363" y="5028704"/>
            <a:ext cx="11191776" cy="1094929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38188" y="5025529"/>
            <a:ext cx="11198126" cy="1101279"/>
          </a:xfrm>
          <a:prstGeom prst="rect">
            <a:avLst/>
          </a:prstGeom>
          <a:noFill/>
          <a:ln w="6350">
            <a:solidFill>
              <a:srgbClr val="D5D9E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1000472" y="5166916"/>
            <a:ext cx="65405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Движение по X с реалната следа (сива) спрямо идеалната права (червена)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 – София · Факултет „Автоматика“ · SCORBOT ER-9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631900"/>
            <a:ext cx="10566400" cy="0"/>
          </a:xfrm>
          <a:prstGeom prst="line">
            <a:avLst/>
          </a:prstGeom>
          <a:noFill/>
          <a:ln w="12700">
            <a:solidFill>
              <a:srgbClr val="363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Експеримент 4 · Цяла програма (PEN10)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07430"/>
            <a:ext cx="954913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Роботът и моделът — едновременно</a:t>
            </a:r>
            <a:endParaRPr lang="en-US" sz="2800" dirty="0"/>
          </a:p>
        </p:txBody>
      </p:sp>
      <p:pic>
        <p:nvPicPr>
          <p:cNvPr id="5" name="Image 0" descr="Видео: реалният робот (вляво) и 3D моделът в SolidWorks (вдясно) изпълняват програмата PEN10 едновременно">    </p:cNvPr>
          <p:cNvPicPr>
            <a:picLocks noChangeAspect="1"/>
          </p:cNvPicPr>
          <p:nvPr/>
        </p:nvPicPr>
        <p:blipFill>
          <a:blip r:embed="rId1"/>
          <a:srcRect l="0" r="0" t="83" b="83"/>
          <a:stretch/>
        </p:blipFill>
        <p:spPr>
          <a:xfrm>
            <a:off x="1149350" y="1847800"/>
            <a:ext cx="9893300" cy="3987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6175" y="1844625"/>
            <a:ext cx="9899650" cy="3994150"/>
          </a:xfrm>
          <a:prstGeom prst="rect">
            <a:avLst/>
          </a:prstGeom>
          <a:noFill/>
          <a:ln w="6350">
            <a:solidFill>
              <a:srgbClr val="D5D9E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5" b="-45"/>
          <a:stretch/>
        </p:blipFill>
        <p:spPr>
          <a:xfrm>
            <a:off x="10617200" y="660400"/>
            <a:ext cx="762000" cy="685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 – София · Факултет „Автоматика“ · SCORBOT ER-9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631900"/>
            <a:ext cx="10566400" cy="0"/>
          </a:xfrm>
          <a:prstGeom prst="line">
            <a:avLst/>
          </a:prstGeom>
          <a:noFill/>
          <a:ln w="12700">
            <a:solidFill>
              <a:srgbClr val="363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Експеримент 4 · Резултат и сплайн контур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07430"/>
            <a:ext cx="954913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По-висока скорост → заоблени ъгли</a:t>
            </a:r>
            <a:endParaRPr lang="en-US" sz="2800" dirty="0"/>
          </a:p>
        </p:txBody>
      </p:sp>
      <p:pic>
        <p:nvPicPr>
          <p:cNvPr id="5" name="Image 0" descr="Контур, изписан от робота при линейна скорост 10 %: остри ъгли">    </p:cNvPr>
          <p:cNvPicPr>
            <a:picLocks noChangeAspect="1"/>
          </p:cNvPicPr>
          <p:nvPr/>
        </p:nvPicPr>
        <p:blipFill>
          <a:blip r:embed="rId1"/>
          <a:srcRect l="0" r="0" t="2390" b="2390"/>
          <a:stretch/>
        </p:blipFill>
        <p:spPr>
          <a:xfrm>
            <a:off x="812800" y="1816050"/>
            <a:ext cx="3365500" cy="190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30700" y="2396430"/>
            <a:ext cx="159975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Робот - скорост 10 %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30700" y="2678361"/>
            <a:ext cx="16637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Ъглите са остри, линията е плътна.</a:t>
            </a:r>
            <a:endParaRPr lang="en-US" sz="1300" dirty="0"/>
          </a:p>
        </p:txBody>
      </p:sp>
      <p:pic>
        <p:nvPicPr>
          <p:cNvPr id="8" name="Image 1" descr="Същият контур при линейна скорост 50 %: заоблени ъгли">    </p:cNvPr>
          <p:cNvPicPr>
            <a:picLocks noChangeAspect="1"/>
          </p:cNvPicPr>
          <p:nvPr/>
        </p:nvPicPr>
        <p:blipFill>
          <a:blip r:embed="rId2"/>
          <a:srcRect l="0" r="0" t="4221" b="4221"/>
          <a:stretch/>
        </p:blipFill>
        <p:spPr>
          <a:xfrm>
            <a:off x="812800" y="3848050"/>
            <a:ext cx="3365500" cy="1905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30700" y="4428430"/>
            <a:ext cx="159975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Робот - скорост 50 %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330700" y="4710361"/>
            <a:ext cx="16637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Ъглите са заоблени, линията е по-тънка.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48400" y="1816050"/>
            <a:ext cx="3365500" cy="1905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2" descr="Цялата траектория на върха при програмата PEN10 в модела: червена при 10 %, синя при 50 %">    </p:cNvPr>
          <p:cNvPicPr>
            <a:picLocks noChangeAspect="1"/>
          </p:cNvPicPr>
          <p:nvPr/>
        </p:nvPicPr>
        <p:blipFill>
          <a:blip r:embed="rId3"/>
          <a:srcRect l="-4318" r="-4318" t="0" b="0"/>
          <a:stretch/>
        </p:blipFill>
        <p:spPr>
          <a:xfrm>
            <a:off x="6254750" y="1822400"/>
            <a:ext cx="3352800" cy="18923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51575" y="1819225"/>
            <a:ext cx="3359150" cy="1898650"/>
          </a:xfrm>
          <a:prstGeom prst="rect">
            <a:avLst/>
          </a:prstGeom>
          <a:noFill/>
          <a:ln w="6350">
            <a:solidFill>
              <a:srgbClr val="D5D9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9766300" y="2280890"/>
            <a:ext cx="16637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Модел - цялата траектория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766300" y="2793950"/>
            <a:ext cx="16637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Подход, контур и връщане на писеца.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48400" y="3848050"/>
            <a:ext cx="3365500" cy="1905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3" descr="Детайл от ъглите в модела: червена следа при 10 %, синя при 50 %">    </p:cNvPr>
          <p:cNvPicPr>
            <a:picLocks noChangeAspect="1"/>
          </p:cNvPicPr>
          <p:nvPr/>
        </p:nvPicPr>
        <p:blipFill>
          <a:blip r:embed="rId4"/>
          <a:srcRect l="-4329" r="-4329" t="0" b="0"/>
          <a:stretch/>
        </p:blipFill>
        <p:spPr>
          <a:xfrm>
            <a:off x="6254750" y="3854400"/>
            <a:ext cx="3352800" cy="18923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51575" y="3851225"/>
            <a:ext cx="3359150" cy="1898650"/>
          </a:xfrm>
          <a:prstGeom prst="rect">
            <a:avLst/>
          </a:prstGeom>
          <a:noFill/>
          <a:ln w="6350">
            <a:solidFill>
              <a:srgbClr val="D5D9E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9766300" y="4312890"/>
            <a:ext cx="16637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Модел - детайл на контура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766300" y="4825950"/>
            <a:ext cx="16637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Червено 10 %, синьо 50 %.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5" b="-45"/>
          <a:stretch/>
        </p:blipFill>
        <p:spPr>
          <a:xfrm>
            <a:off x="10617200" y="660400"/>
            <a:ext cx="762000" cy="685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 – София · Факултет „Автоматика“ · SCORBOT ER-9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631900"/>
            <a:ext cx="10566400" cy="0"/>
          </a:xfrm>
          <a:prstGeom prst="line">
            <a:avLst/>
          </a:prstGeom>
          <a:noFill/>
          <a:ln w="12700">
            <a:solidFill>
              <a:srgbClr val="363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Приноси и бъдеща работа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07430"/>
            <a:ext cx="954913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Какво постигнах и какво следва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181605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Какво постигнах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5975" y="2126555"/>
            <a:ext cx="3414167" cy="16573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2350" y="2282130"/>
            <a:ext cx="406400" cy="38100"/>
          </a:xfrm>
          <a:prstGeom prst="rect">
            <a:avLst/>
          </a:prstGeom>
          <a:solidFill>
            <a:srgbClr val="36385F"/>
          </a:solidFill>
          <a:ln/>
        </p:spPr>
      </p:sp>
      <p:sp>
        <p:nvSpPr>
          <p:cNvPr id="8" name="Text 6"/>
          <p:cNvSpPr/>
          <p:nvPr/>
        </p:nvSpPr>
        <p:spPr>
          <a:xfrm>
            <a:off x="1022350" y="2383730"/>
            <a:ext cx="309145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Работеща верига робот → модел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2350" y="2691061"/>
            <a:ext cx="3091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Моделът следва реалния робот, 11–14 обновявания в секунда.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8892" y="2126555"/>
            <a:ext cx="3414216" cy="16573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5267" y="2282130"/>
            <a:ext cx="406400" cy="38100"/>
          </a:xfrm>
          <a:prstGeom prst="rect">
            <a:avLst/>
          </a:prstGeom>
          <a:solidFill>
            <a:srgbClr val="36385F"/>
          </a:solidFill>
          <a:ln/>
        </p:spPr>
      </p:sp>
      <p:sp>
        <p:nvSpPr>
          <p:cNvPr id="12" name="Text 10"/>
          <p:cNvSpPr/>
          <p:nvPr/>
        </p:nvSpPr>
        <p:spPr>
          <a:xfrm>
            <a:off x="4595267" y="2383730"/>
            <a:ext cx="30915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Архитектура с два канала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5267" y="2691061"/>
            <a:ext cx="30915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и собствената програма работят едновременно.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61858" y="2126555"/>
            <a:ext cx="3414167" cy="16573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68233" y="2282130"/>
            <a:ext cx="406400" cy="38100"/>
          </a:xfrm>
          <a:prstGeom prst="rect">
            <a:avLst/>
          </a:prstGeom>
          <a:solidFill>
            <a:srgbClr val="36385F"/>
          </a:solidFill>
          <a:ln/>
        </p:spPr>
      </p:sp>
      <p:sp>
        <p:nvSpPr>
          <p:cNvPr id="16" name="Text 14"/>
          <p:cNvSpPr/>
          <p:nvPr/>
        </p:nvSpPr>
        <p:spPr>
          <a:xfrm>
            <a:off x="8168233" y="2383730"/>
            <a:ext cx="3091459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Методика за оценка на точността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68233" y="2934891"/>
            <a:ext cx="3091459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Тройното сравнение разлага грешката: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0,00°</a:t>
            </a: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в ставите · </a:t>
            </a:r>
            <a:r>
              <a:rPr lang="en-US" sz="1300" b="1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0,1–1,2 mm</a:t>
            </a: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на върха · </a:t>
            </a:r>
            <a:r>
              <a:rPr lang="en-US" sz="1300" b="1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≈7 mm</a:t>
            </a: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спрямо масата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3964831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Какво следва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9150" y="4278511"/>
            <a:ext cx="3407817" cy="1087090"/>
          </a:xfrm>
          <a:prstGeom prst="rect">
            <a:avLst/>
          </a:prstGeom>
          <a:solidFill>
            <a:srgbClr val="F3F4F7"/>
          </a:solidFill>
          <a:ln w="12700">
            <a:solidFill>
              <a:srgbClr val="6B7486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028700" y="4437261"/>
            <a:ext cx="307837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Калибровка на работното място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8700" y="4744591"/>
            <a:ext cx="307837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Грешката от ~7 mm да падне до нивото от ~1 mm.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92067" y="4278511"/>
            <a:ext cx="3407866" cy="1087090"/>
          </a:xfrm>
          <a:prstGeom prst="rect">
            <a:avLst/>
          </a:prstGeom>
          <a:solidFill>
            <a:srgbClr val="F3F4F7"/>
          </a:solidFill>
          <a:ln w="12700">
            <a:solidFill>
              <a:srgbClr val="6B7486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601617" y="4437261"/>
            <a:ext cx="307842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Двупосочна връзка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01617" y="4744591"/>
            <a:ext cx="307842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Път, планиран върху модела, се изпраща като програма към робота.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65033" y="4278511"/>
            <a:ext cx="3407817" cy="1087090"/>
          </a:xfrm>
          <a:prstGeom prst="rect">
            <a:avLst/>
          </a:prstGeom>
          <a:solidFill>
            <a:srgbClr val="F3F4F7"/>
          </a:solidFill>
          <a:ln w="12700">
            <a:solidFill>
              <a:srgbClr val="6B7486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8174583" y="4437261"/>
            <a:ext cx="307837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По-бързо обновяване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74583" y="4744591"/>
            <a:ext cx="307837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3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 9600 bit/s: подобрения в синхронизацията на четене и запис</a:t>
            </a:r>
            <a:endParaRPr lang="en-US" sz="13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10617200" y="660400"/>
            <a:ext cx="762000" cy="6858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 – София · Факултет „Автоматика“ · SCORBOT ER-9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Логото на Технически университет – София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2051050" y="2155825"/>
            <a:ext cx="1079500" cy="971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2800" y="4314825"/>
            <a:ext cx="3556000" cy="0"/>
          </a:xfrm>
          <a:prstGeom prst="line">
            <a:avLst/>
          </a:prstGeom>
          <a:noFill/>
          <a:ln w="12700">
            <a:solidFill>
              <a:srgbClr val="36385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59460" y="3305175"/>
            <a:ext cx="3662680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3000" spc="100" kern="0" dirty="0">
                <a:solidFill>
                  <a:srgbClr val="36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БЛАГОДАРЯ ЗА ВНИМАНИЕТО</a:t>
            </a:r>
            <a:endParaRPr lang="en-US" sz="3000" dirty="0"/>
          </a:p>
        </p:txBody>
      </p:sp>
      <p:pic>
        <p:nvPicPr>
          <p:cNvPr id="5" name="Image 1" descr="Видео: реалният робот изписва контура, а на лаптопа до него 3D моделът в SolidWorks повтаря движението">    </p:cNvPr>
          <p:cNvPicPr>
            <a:picLocks noChangeAspect="1"/>
          </p:cNvPicPr>
          <p:nvPr/>
        </p:nvPicPr>
        <p:blipFill>
          <a:blip r:embed="rId2"/>
          <a:srcRect l="0" r="0" t="74" b="74"/>
          <a:stretch/>
        </p:blipFill>
        <p:spPr>
          <a:xfrm>
            <a:off x="4679950" y="1447800"/>
            <a:ext cx="6692900" cy="3759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676775" y="1444625"/>
            <a:ext cx="6699250" cy="3765550"/>
          </a:xfrm>
          <a:prstGeom prst="rect">
            <a:avLst/>
          </a:prstGeom>
          <a:noFill/>
          <a:ln w="6350">
            <a:solidFill>
              <a:srgbClr val="D5D9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4304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Иван Найденов · ТУ – София, Факултет „Автоматика“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Защита – SCORBOT ER-IX и неговият цифров близнак</dc:title>
  <dc:subject>PptxGenJS Presentation</dc:subject>
  <dc:creator>PptxGenJS</dc:creator>
  <cp:lastModifiedBy>PptxGenJS</cp:lastModifiedBy>
  <cp:revision>1</cp:revision>
  <dcterms:created xsi:type="dcterms:W3CDTF">2026-09-30T00:26:31Z</dcterms:created>
  <dcterms:modified xsi:type="dcterms:W3CDTF">2026-09-30T00:26:31Z</dcterms:modified>
</cp:coreProperties>
</file>